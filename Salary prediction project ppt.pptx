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8" r:id="rId9"/>
    <p:sldId id="262" r:id="rId10"/>
    <p:sldId id="263" r:id="rId11"/>
    <p:sldId id="264" r:id="rId12"/>
    <p:sldId id="266" r:id="rId13"/>
    <p:sldId id="265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5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1025"/>
          <p:cNvSpPr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/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29" name="Footer Placeholder 1028"/>
          <p:cNvSpPr/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Slide Number Placeholder 1029"/>
          <p:cNvSpPr/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jpeg"/><Relationship Id="rId8" Type="http://schemas.openxmlformats.org/officeDocument/2006/relationships/image" Target="../media/image12.jpeg"/><Relationship Id="rId7" Type="http://schemas.openxmlformats.org/officeDocument/2006/relationships/image" Target="../media/image11.jpeg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0" Type="http://schemas.openxmlformats.org/officeDocument/2006/relationships/slideLayout" Target="../slideLayouts/slideLayout6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.xml"/><Relationship Id="rId8" Type="http://schemas.openxmlformats.org/officeDocument/2006/relationships/image" Target="../media/image24.jpeg"/><Relationship Id="rId7" Type="http://schemas.openxmlformats.org/officeDocument/2006/relationships/image" Target="../media/image23.jpeg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24785" y="215900"/>
            <a:ext cx="6419215" cy="1309370"/>
          </a:xfrm>
        </p:spPr>
        <p:txBody>
          <a:bodyPr/>
          <a:lstStyle/>
          <a:p>
            <a:pPr algn="l"/>
            <a:r>
              <a:rPr 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        </a:t>
            </a:r>
            <a:r>
              <a:rPr lang="en-US" b="1">
                <a:solidFill>
                  <a:schemeClr val="accent5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r>
              <a:rPr lang="en-US" b="1">
                <a:solidFill>
                  <a:schemeClr val="accent5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 of the Project</a:t>
            </a:r>
            <a:endParaRPr lang="en-US" b="1">
              <a:solidFill>
                <a:schemeClr val="accent5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0705" y="1534160"/>
            <a:ext cx="6042025" cy="424561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0" indent="0">
              <a:buNone/>
            </a:pPr>
            <a:endParaRPr sz="3600">
              <a:sym typeface="+mn-ea"/>
            </a:endParaRPr>
          </a:p>
          <a:p>
            <a:pPr marL="0" indent="0">
              <a:buNone/>
            </a:pPr>
            <a:r>
              <a:rPr lang="en-US" sz="4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charset="0"/>
                <a:cs typeface="Arial Black" panose="020B0A04020102020204" charset="0"/>
                <a:sym typeface="+mn-ea"/>
              </a:rPr>
              <a:t>      </a:t>
            </a:r>
            <a:r>
              <a:rPr sz="4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charset="0"/>
                <a:cs typeface="Arial Black" panose="020B0A04020102020204" charset="0"/>
                <a:sym typeface="+mn-ea"/>
              </a:rPr>
              <a:t>Salary Prediction</a:t>
            </a:r>
            <a:r>
              <a:rPr lang="en-US" sz="4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charset="0"/>
                <a:cs typeface="Arial Black" panose="020B0A04020102020204" charset="0"/>
                <a:sym typeface="+mn-ea"/>
              </a:rPr>
              <a:t> </a:t>
            </a:r>
            <a:r>
              <a:rPr sz="4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charset="0"/>
                <a:cs typeface="Arial Black" panose="020B0A04020102020204" charset="0"/>
                <a:sym typeface="+mn-ea"/>
              </a:rPr>
              <a:t> </a:t>
            </a:r>
            <a:r>
              <a:rPr lang="en-US" sz="4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charset="0"/>
                <a:cs typeface="Arial Black" panose="020B0A04020102020204" charset="0"/>
                <a:sym typeface="+mn-ea"/>
              </a:rPr>
              <a:t>                      using </a:t>
            </a:r>
            <a:r>
              <a:rPr lang="en-US" sz="4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charset="0"/>
                <a:cs typeface="Arial Black" panose="020B0A04020102020204" charset="0"/>
                <a:sym typeface="+mn-ea"/>
              </a:rPr>
              <a:t>linear </a:t>
            </a:r>
            <a:r>
              <a:rPr lang="en-US" sz="4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charset="0"/>
                <a:cs typeface="Arial Black" panose="020B0A04020102020204" charset="0"/>
                <a:sym typeface="+mn-ea"/>
              </a:rPr>
              <a:t>regression</a:t>
            </a:r>
            <a:endParaRPr lang="en-US" sz="4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 marL="0" indent="0">
              <a:buNone/>
            </a:pPr>
            <a:r>
              <a:rPr lang="en-US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charset="0"/>
                <a:cs typeface="Arial Black" panose="020B0A04020102020204" charset="0"/>
                <a:sym typeface="+mn-ea"/>
              </a:rPr>
              <a:t>                                             </a:t>
            </a:r>
            <a:r>
              <a:rPr lang="en-US" altLang="en-US" sz="1400"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charset="0"/>
                <a:cs typeface="Arial Black" panose="020B0A04020102020204" charset="0"/>
                <a:sym typeface="+mn-ea"/>
              </a:rPr>
              <a:t> </a:t>
            </a:r>
            <a:r>
              <a:rPr lang="en-US" altLang="en-US" sz="1600" b="1"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charset="0"/>
                <a:cs typeface="Arial Rounded MT Bold" panose="020F0704030504030204" charset="0"/>
                <a:sym typeface="+mn-ea"/>
              </a:rPr>
              <a:t>“Predict Pay, Plan Your Future”</a:t>
            </a:r>
            <a:endParaRPr lang="en-US" altLang="en-US" sz="1600">
              <a:solidFill>
                <a:srgbClr val="7030A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 marL="0" indent="0">
              <a:buNone/>
            </a:pPr>
            <a:r>
              <a:rPr lang="en-US" sz="3200">
                <a:solidFill>
                  <a:schemeClr val="tx1"/>
                </a:solidFill>
                <a:sym typeface="+mn-ea"/>
              </a:rPr>
              <a:t>                        </a:t>
            </a:r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 </a:t>
            </a:r>
            <a:r>
              <a:rPr lang="en-US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   -By TANISHA DAS</a:t>
            </a:r>
            <a:endParaRPr lang="en-US" sz="2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hnschrift SemiBold" panose="020B0502040204020203" charset="0"/>
              <a:cs typeface="Bahnschrift SemiBold" panose="020B0502040204020203" charset="0"/>
              <a:sym typeface="+mn-ea"/>
            </a:endParaRPr>
          </a:p>
          <a:p>
            <a:pPr marL="0" indent="0">
              <a:buNone/>
            </a:pPr>
            <a:r>
              <a:rPr lang="en-US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                 -Guided by:Ms.Naina Devi</a:t>
            </a:r>
            <a:endParaRPr sz="2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hnschrift SemiBold" panose="020B0502040204020203" charset="0"/>
              <a:cs typeface="Bahnschrift SemiBold" panose="020B0502040204020203" charset="0"/>
              <a:sym typeface="+mn-ea"/>
            </a:endParaRPr>
          </a:p>
          <a:p>
            <a:pPr marL="0" indent="0">
              <a:buNone/>
            </a:pPr>
            <a:endParaRPr sz="36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hnschrift SemiBold" panose="020B0502040204020203" charset="0"/>
              <a:cs typeface="Bahnschrift SemiBold" panose="020B0502040204020203" charset="0"/>
              <a:sym typeface="+mn-ea"/>
            </a:endParaRPr>
          </a:p>
          <a:p>
            <a:pPr marL="0" indent="0">
              <a:buNone/>
            </a:pPr>
            <a:endParaRPr lang="en-US" sz="36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hnschrift SemiBold" panose="020B0502040204020203" charset="0"/>
              <a:cs typeface="Bahnschrift SemiBold" panose="020B0502040204020203" charset="0"/>
              <a:sym typeface="+mn-ea"/>
            </a:endParaRPr>
          </a:p>
        </p:txBody>
      </p:sp>
      <p:pic>
        <p:nvPicPr>
          <p:cNvPr id="5" name="Picture 4" descr="frontp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17035" cy="6857365"/>
          </a:xfrm>
          <a:prstGeom prst="rect">
            <a:avLst/>
          </a:prstGeom>
        </p:spPr>
      </p:pic>
    </p:spTree>
  </p:cSld>
  <p:clrMapOvr>
    <a:masterClrMapping/>
  </p:clrMapOvr>
  <p:transition advTm="300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88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74955"/>
            <a:ext cx="8229600" cy="1143000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B0F0"/>
                </a:solidFill>
              </a:rPr>
              <a:t>     </a:t>
            </a:r>
            <a:r>
              <a:rPr b="1">
                <a:solidFill>
                  <a:schemeClr val="accent4">
                    <a:lumMod val="95000"/>
                    <a:lumOff val="5000"/>
                  </a:schemeClr>
                </a:solidFill>
              </a:rPr>
              <a:t>Project Description</a:t>
            </a:r>
            <a:endParaRPr b="1">
              <a:solidFill>
                <a:schemeClr val="accent4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8223250" cy="3658870"/>
          </a:xfrm>
        </p:spPr>
        <p:txBody>
          <a:bodyPr/>
          <a:lstStyle/>
          <a:p>
            <a:pPr algn="ctr">
              <a:buFont typeface="Wingdings" panose="05000000000000000000" charset="0"/>
              <a:buChar char="Ø"/>
            </a:pPr>
            <a:r>
              <a:rPr b="1"/>
              <a:t>The aim of this project is to predict employee salaries based on factors like job title, experience, education, and location.</a:t>
            </a:r>
            <a:endParaRPr b="1"/>
          </a:p>
          <a:p>
            <a:pPr algn="ctr"/>
            <a:endParaRPr b="1"/>
          </a:p>
          <a:p>
            <a:pPr algn="ctr">
              <a:buFont typeface="Wingdings" panose="05000000000000000000" charset="0"/>
              <a:buChar char="Ø"/>
            </a:pPr>
            <a:r>
              <a:rPr b="1"/>
              <a:t>Helps in salary benchmarking for companies and job seekers.</a:t>
            </a:r>
            <a:endParaRPr b="1"/>
          </a:p>
          <a:p>
            <a:pPr marL="0" indent="0">
              <a:buNone/>
            </a:pPr>
            <a:endParaRPr lang="en-US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3000"/>
    </mc:Choice>
    <mc:Fallback>
      <p:transition spd="slow" advTm="3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83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chemeClr val="accent4">
                    <a:lumMod val="95000"/>
                    <a:lumOff val="5000"/>
                  </a:schemeClr>
                </a:solidFill>
              </a:rPr>
              <a:t>Dataset</a:t>
            </a:r>
            <a:endParaRPr b="1">
              <a:solidFill>
                <a:schemeClr val="accent4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b="1">
                <a:latin typeface="Arial" panose="020B0604020202020204" pitchFamily="34" charset="0"/>
                <a:cs typeface="Arial" panose="020B0604020202020204" pitchFamily="34" charset="0"/>
              </a:rPr>
              <a:t>Source: Kaggle Dataset (Employee Salaries)</a:t>
            </a:r>
            <a:endParaRPr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b="1">
                <a:latin typeface="Arial" panose="020B0604020202020204" pitchFamily="34" charset="0"/>
                <a:cs typeface="Arial" panose="020B0604020202020204" pitchFamily="34" charset="0"/>
              </a:rPr>
              <a:t>Features: Job title, experience, education level, company size, location</a:t>
            </a:r>
            <a:endParaRPr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b="1">
                <a:latin typeface="Arial" panose="020B0604020202020204" pitchFamily="34" charset="0"/>
                <a:cs typeface="Arial" panose="020B0604020202020204" pitchFamily="34" charset="0"/>
              </a:rPr>
              <a:t>Target: Salary</a:t>
            </a:r>
            <a:endParaRPr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b="1">
                <a:latin typeface="Arial" panose="020B0604020202020204" pitchFamily="34" charset="0"/>
                <a:cs typeface="Arial" panose="020B0604020202020204" pitchFamily="34" charset="0"/>
              </a:rPr>
              <a:t>Preprocessing: Missing values handled, categorical encoding, normalization</a:t>
            </a:r>
            <a:endParaRPr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advTm="300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76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>
                <a:solidFill>
                  <a:schemeClr val="accent5">
                    <a:lumMod val="50000"/>
                  </a:schemeClr>
                </a:solidFill>
              </a:rPr>
              <a:t>Tools and Technologies</a:t>
            </a:r>
            <a:endParaRPr b="1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418590"/>
            <a:ext cx="8075295" cy="3078480"/>
          </a:xfrm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sz="3600">
                <a:latin typeface="Arial Rounded MT Bold" panose="020F0704030504030204" charset="0"/>
                <a:cs typeface="Arial Rounded MT Bold" panose="020F0704030504030204" charset="0"/>
              </a:rPr>
              <a:t>Python – Programming Language</a:t>
            </a:r>
            <a:endParaRPr sz="3600">
              <a:latin typeface="Arial Rounded MT Bold" panose="020F0704030504030204" charset="0"/>
              <a:cs typeface="Arial Rounded MT Bold" panose="020F0704030504030204" charset="0"/>
            </a:endParaRPr>
          </a:p>
          <a:p>
            <a:pPr algn="ctr">
              <a:lnSpc>
                <a:spcPct val="90000"/>
              </a:lnSpc>
            </a:pPr>
            <a:r>
              <a:rPr sz="3600">
                <a:latin typeface="Arial Rounded MT Bold" panose="020F0704030504030204" charset="0"/>
                <a:cs typeface="Arial Rounded MT Bold" panose="020F0704030504030204" charset="0"/>
              </a:rPr>
              <a:t>Jupyter Notebook – Model Building</a:t>
            </a:r>
            <a:r>
              <a:rPr lang="en-US" sz="3600">
                <a:latin typeface="Arial Rounded MT Bold" panose="020F0704030504030204" charset="0"/>
                <a:cs typeface="Arial Rounded MT Bold" panose="020F0704030504030204" charset="0"/>
              </a:rPr>
              <a:t> </a:t>
            </a:r>
            <a:r>
              <a:rPr sz="3600">
                <a:latin typeface="Arial Rounded MT Bold" panose="020F0704030504030204" charset="0"/>
                <a:cs typeface="Arial Rounded MT Bold" panose="020F0704030504030204" charset="0"/>
              </a:rPr>
              <a:t>Analysis</a:t>
            </a:r>
            <a:endParaRPr sz="3600">
              <a:latin typeface="Arial Rounded MT Bold" panose="020F0704030504030204" charset="0"/>
              <a:cs typeface="Arial Rounded MT Bold" panose="020F0704030504030204" charset="0"/>
            </a:endParaRPr>
          </a:p>
          <a:p>
            <a:pPr algn="ctr">
              <a:lnSpc>
                <a:spcPct val="90000"/>
              </a:lnSpc>
            </a:pPr>
            <a:r>
              <a:rPr sz="3600">
                <a:latin typeface="Arial Rounded MT Bold" panose="020F0704030504030204" charset="0"/>
                <a:cs typeface="Arial Rounded MT Bold" panose="020F0704030504030204" charset="0"/>
              </a:rPr>
              <a:t>Streamlit – Web App Deployment</a:t>
            </a:r>
            <a:endParaRPr sz="3600">
              <a:latin typeface="Arial Rounded MT Bold" panose="020F0704030504030204" charset="0"/>
              <a:cs typeface="Arial Rounded MT Bold" panose="020F0704030504030204" charset="0"/>
            </a:endParaRPr>
          </a:p>
          <a:p>
            <a:pPr algn="ctr">
              <a:lnSpc>
                <a:spcPct val="90000"/>
              </a:lnSpc>
            </a:pPr>
            <a:r>
              <a:rPr sz="3600">
                <a:latin typeface="Arial Rounded MT Bold" panose="020F0704030504030204" charset="0"/>
                <a:cs typeface="Arial Rounded MT Bold" panose="020F0704030504030204" charset="0"/>
              </a:rPr>
              <a:t>Kaggle – Data Source</a:t>
            </a:r>
            <a:endParaRPr sz="3600">
              <a:latin typeface="Arial Rounded MT Bold" panose="020F0704030504030204" charset="0"/>
              <a:cs typeface="Arial Rounded MT Bold" panose="020F0704030504030204" charset="0"/>
            </a:endParaRPr>
          </a:p>
          <a:p>
            <a:pPr algn="ctr">
              <a:lnSpc>
                <a:spcPct val="90000"/>
              </a:lnSpc>
            </a:pPr>
            <a:r>
              <a:rPr sz="3600">
                <a:latin typeface="Arial Rounded MT Bold" panose="020F0704030504030204" charset="0"/>
                <a:cs typeface="Arial Rounded MT Bold" panose="020F0704030504030204" charset="0"/>
              </a:rPr>
              <a:t>Libraries: pandas, numpy, scikit-learn, matplotlib, seaborn, streamlit</a:t>
            </a:r>
            <a:endParaRPr sz="3600">
              <a:latin typeface="Arial Rounded MT Bold" panose="020F0704030504030204" charset="0"/>
              <a:cs typeface="Arial Rounded MT Bold" panose="020F0704030504030204" charset="0"/>
            </a:endParaRPr>
          </a:p>
          <a:p>
            <a:pPr marL="0" indent="0" algn="ctr">
              <a:buNone/>
            </a:pPr>
            <a:endParaRPr lang="en-US" sz="360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0" y="5882640"/>
            <a:ext cx="9045575" cy="975995"/>
            <a:chOff x="0" y="9264"/>
            <a:chExt cx="14245" cy="1537"/>
          </a:xfrm>
        </p:grpSpPr>
        <p:pic>
          <p:nvPicPr>
            <p:cNvPr id="4" name="Picture 3" descr="sea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05" y="9476"/>
              <a:ext cx="2012" cy="1324"/>
            </a:xfrm>
            <a:prstGeom prst="rect">
              <a:avLst/>
            </a:prstGeom>
          </p:spPr>
        </p:pic>
        <p:pic>
          <p:nvPicPr>
            <p:cNvPr id="5" name="Picture 4" descr="num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24" y="9264"/>
              <a:ext cx="1485" cy="1439"/>
            </a:xfrm>
            <a:prstGeom prst="rect">
              <a:avLst/>
            </a:prstGeom>
          </p:spPr>
        </p:pic>
        <p:pic>
          <p:nvPicPr>
            <p:cNvPr id="6" name="Picture 5" descr="mat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717" y="9476"/>
              <a:ext cx="1528" cy="1325"/>
            </a:xfrm>
            <a:prstGeom prst="rect">
              <a:avLst/>
            </a:prstGeom>
          </p:spPr>
        </p:pic>
        <p:pic>
          <p:nvPicPr>
            <p:cNvPr id="7" name="Picture 6" descr="panda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02" y="9477"/>
              <a:ext cx="1764" cy="1324"/>
            </a:xfrm>
            <a:prstGeom prst="rect">
              <a:avLst/>
            </a:prstGeom>
          </p:spPr>
        </p:pic>
        <p:pic>
          <p:nvPicPr>
            <p:cNvPr id="8" name="Picture 7" descr="scikit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795" y="9476"/>
              <a:ext cx="2106" cy="1324"/>
            </a:xfrm>
            <a:prstGeom prst="rect">
              <a:avLst/>
            </a:prstGeom>
          </p:spPr>
        </p:pic>
        <p:pic>
          <p:nvPicPr>
            <p:cNvPr id="9" name="Picture 8" descr="kaggel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0" y="9264"/>
              <a:ext cx="1681" cy="1439"/>
            </a:xfrm>
            <a:prstGeom prst="rect">
              <a:avLst/>
            </a:prstGeom>
          </p:spPr>
        </p:pic>
        <p:pic>
          <p:nvPicPr>
            <p:cNvPr id="11" name="Picture 10" descr="jupyter"/>
            <p:cNvPicPr>
              <a:picLocks noChangeAspect="1"/>
            </p:cNvPicPr>
            <p:nvPr/>
          </p:nvPicPr>
          <p:blipFill>
            <a:blip r:embed="rId8"/>
            <a:srcRect t="4640" r="865"/>
            <a:stretch>
              <a:fillRect/>
            </a:stretch>
          </p:blipFill>
          <p:spPr>
            <a:xfrm>
              <a:off x="5113" y="9476"/>
              <a:ext cx="1343" cy="1324"/>
            </a:xfrm>
            <a:prstGeom prst="rect">
              <a:avLst/>
            </a:prstGeom>
          </p:spPr>
        </p:pic>
        <p:pic>
          <p:nvPicPr>
            <p:cNvPr id="12" name="Picture 11" descr="streamlit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681" y="9264"/>
              <a:ext cx="1907" cy="1400"/>
            </a:xfrm>
            <a:prstGeom prst="rect">
              <a:avLst/>
            </a:prstGeom>
          </p:spPr>
        </p:pic>
      </p:grpSp>
    </p:spTree>
  </p:cSld>
  <p:clrMapOvr>
    <a:masterClrMapping/>
  </p:clrMapOvr>
  <p:transition advTm="300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67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SemiBold" panose="020B0502040204020203" charset="0"/>
                <a:cs typeface="Bahnschrift SemiBold" panose="020B0502040204020203" charset="0"/>
              </a:rPr>
              <a:t>Machine Learning Models Used</a:t>
            </a:r>
            <a:endParaRPr sz="4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Linear Regression</a:t>
            </a:r>
            <a:endParaRPr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/>
            <a:r>
              <a:rPr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Random Forest Regressor</a:t>
            </a:r>
            <a:endParaRPr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/>
            <a:r>
              <a:rPr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Gradient Boosting Regressor</a:t>
            </a:r>
            <a:endParaRPr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/>
            <a:r>
              <a:rPr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Voting Regressor (Ensemble Model)</a:t>
            </a:r>
            <a:endParaRPr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/>
            <a:r>
              <a:rPr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Ensemble approach improved overall accuracy</a:t>
            </a:r>
            <a:endParaRPr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p:transition advTm="300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75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DEMO</a:t>
            </a:r>
            <a:r>
              <a:rPr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3995"/>
            <a:ext cx="5828030" cy="4314190"/>
          </a:xfrm>
        </p:spPr>
        <p:txBody>
          <a:bodyPr/>
          <a:lstStyle/>
          <a:p>
            <a:pPr algn="l">
              <a:lnSpc>
                <a:spcPct val="90000"/>
              </a:lnSpc>
              <a:buFont typeface="Wingdings" panose="05000000000000000000" charset="0"/>
              <a:buChar char="v"/>
            </a:pPr>
            <a:r>
              <a:rPr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Features:</a:t>
            </a:r>
            <a:endParaRPr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>
              <a:lnSpc>
                <a:spcPct val="90000"/>
              </a:lnSpc>
            </a:pPr>
            <a:r>
              <a:t> User input for job title, experience, education, location</a:t>
            </a:r>
          </a:p>
          <a:p>
            <a:pPr algn="l">
              <a:lnSpc>
                <a:spcPct val="90000"/>
              </a:lnSpc>
            </a:pPr>
            <a:r>
              <a:t>Predicts expected salary instantly</a:t>
            </a:r>
          </a:p>
          <a:p>
            <a:pPr algn="l">
              <a:lnSpc>
                <a:spcPct val="90000"/>
              </a:lnSpc>
            </a:pPr>
            <a:r>
              <a:t>Interactive and easy</a:t>
            </a:r>
          </a:p>
          <a:p>
            <a:pPr marL="0" indent="0" algn="l">
              <a:lnSpc>
                <a:spcPct val="90000"/>
              </a:lnSpc>
              <a:buNone/>
            </a:pPr>
            <a:r>
              <a:rPr lang="en-US"/>
              <a:t>  </a:t>
            </a:r>
            <a:r>
              <a:t> to</a:t>
            </a:r>
            <a:r>
              <a:rPr lang="en-US"/>
              <a:t> </a:t>
            </a:r>
            <a:r>
              <a:t>use</a:t>
            </a:r>
          </a:p>
          <a:p>
            <a:pPr algn="l">
              <a:lnSpc>
                <a:spcPct val="70000"/>
              </a:lnSpc>
            </a:pPr>
          </a:p>
          <a:p>
            <a:pPr>
              <a:lnSpc>
                <a:spcPct val="80000"/>
              </a:lnSpc>
              <a:buFont typeface="Wingdings" panose="05000000000000000000" charset="0"/>
              <a:buChar char="Ø"/>
            </a:pPr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LINK</a:t>
            </a:r>
            <a:r>
              <a:rPr lang="en-US"/>
              <a:t>: 👇</a:t>
            </a:r>
            <a:endParaRPr lang="en-US"/>
          </a:p>
          <a:p>
            <a:pPr marL="0" indent="0">
              <a:lnSpc>
                <a:spcPct val="80000"/>
              </a:lnSpc>
              <a:buFont typeface="Wingdings" panose="05000000000000000000" charset="0"/>
              <a:buNone/>
            </a:pPr>
            <a:r>
              <a:rPr lang="en-US" altLang="en-US" sz="2000" u="sng"/>
              <a:t>https://screenapp.io/app/v/VEop7tT4D-</a:t>
            </a:r>
            <a:endParaRPr lang="en-US" altLang="en-US" sz="2000" u="sng"/>
          </a:p>
        </p:txBody>
      </p:sp>
      <p:pic>
        <p:nvPicPr>
          <p:cNvPr id="4" name="Picture 3" descr="Screenshot (13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500" y="1605915"/>
            <a:ext cx="3151505" cy="3768725"/>
          </a:xfrm>
          <a:prstGeom prst="rect">
            <a:avLst/>
          </a:prstGeom>
        </p:spPr>
      </p:pic>
    </p:spTree>
  </p:cSld>
  <p:clrMapOvr>
    <a:masterClrMapping/>
  </p:clrMapOvr>
  <p:transition advTm="300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205105" y="508000"/>
            <a:ext cx="3344545" cy="808990"/>
          </a:xfrm>
        </p:spPr>
        <p:txBody>
          <a:bodyPr/>
          <a:p>
            <a:r>
              <a:rPr lang="en-US"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Screenshot of Data visialization: key factor</a:t>
            </a:r>
            <a:endParaRPr lang="en-US" sz="2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0" name="Content Placeholder 9" descr="hist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814185" y="4850130"/>
            <a:ext cx="2238375" cy="2007870"/>
          </a:xfrm>
          <a:prstGeom prst="rect">
            <a:avLst/>
          </a:prstGeom>
        </p:spPr>
      </p:pic>
      <p:sp>
        <p:nvSpPr>
          <p:cNvPr id="9" name="Text Placeholder 8"/>
          <p:cNvSpPr>
            <a:spLocks noGrp="1"/>
          </p:cNvSpPr>
          <p:nvPr>
            <p:ph type="body" sz="half" idx="2"/>
          </p:nvPr>
        </p:nvSpPr>
        <p:spPr>
          <a:xfrm>
            <a:off x="181610" y="1502410"/>
            <a:ext cx="3552825" cy="4782185"/>
          </a:xfrm>
        </p:spPr>
        <p:txBody>
          <a:bodyPr/>
          <a:p>
            <a:pPr marL="285750" indent="-285750" algn="ctr">
              <a:buFont typeface="Wingdings" panose="05000000000000000000" charset="0"/>
              <a:buChar char="Ø"/>
            </a:pPr>
            <a:r>
              <a:rPr lang="en-US" altLang="en-US" sz="1400"/>
              <a:t>Data visualization helps in identifying patterns and trends in the data. </a:t>
            </a:r>
            <a:endParaRPr lang="en-US" altLang="en-US" sz="1400"/>
          </a:p>
          <a:p>
            <a:pPr algn="ctr">
              <a:buFont typeface="Arial" panose="020B0604020202020204" pitchFamily="34" charset="0"/>
            </a:pPr>
            <a:r>
              <a:rPr lang="en-US" altLang="en-US" sz="1400"/>
              <a:t>We used plots to display the relationship between different features</a:t>
            </a:r>
            <a:r>
              <a:rPr lang="en-US" altLang="en-US" sz="1400"/>
              <a:t> </a:t>
            </a:r>
            <a:r>
              <a:rPr lang="en-US" altLang="en-US" sz="1400"/>
              <a:t>and</a:t>
            </a:r>
            <a:r>
              <a:rPr lang="en-US" altLang="en-US" sz="1400"/>
              <a:t> </a:t>
            </a:r>
            <a:r>
              <a:rPr lang="en-US" altLang="en-US" sz="1400"/>
              <a:t>salary</a:t>
            </a:r>
            <a:endParaRPr lang="en-US" altLang="en-US" sz="140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en-US" sz="18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Bar Chart</a:t>
            </a:r>
            <a:r>
              <a:rPr lang="en-US" altLang="en-US" sz="1800">
                <a:sym typeface="+mn-ea"/>
              </a:rPr>
              <a:t>: Mean Salary by Education Level or Job Title.</a:t>
            </a:r>
            <a:endParaRPr lang="en-US" altLang="en-US" sz="18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2000"/>
              <a:t> </a:t>
            </a:r>
            <a:r>
              <a:rPr lang="en-US" altLang="en-US" sz="2000" b="1"/>
              <a:t>Histogram/Box Plot: </a:t>
            </a:r>
            <a:r>
              <a:rPr lang="en-US" altLang="en-US" sz="2000"/>
              <a:t>Distribution of salaries or age groups.</a:t>
            </a:r>
            <a:endParaRPr lang="en-US" altLang="en-US" sz="2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2000" b="1"/>
              <a:t>Pie chart:</a:t>
            </a:r>
            <a:r>
              <a:rPr lang="en-US" altLang="en-US" sz="2000"/>
              <a:t> A pie chart showing the breakdown of</a:t>
            </a:r>
            <a:r>
              <a:rPr lang="en-US" altLang="en-US" sz="2000"/>
              <a:t> </a:t>
            </a:r>
            <a:r>
              <a:rPr lang="en-US" altLang="en-US" sz="2000"/>
              <a:t>employees.Provides a clear view of the composition of the workforce within the data.</a:t>
            </a:r>
            <a:endParaRPr lang="en-US" altLang="en-US" sz="2000"/>
          </a:p>
        </p:txBody>
      </p:sp>
      <p:pic>
        <p:nvPicPr>
          <p:cNvPr id="11" name="Picture 10" descr="hist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975" y="2169795"/>
            <a:ext cx="1936115" cy="2399030"/>
          </a:xfrm>
          <a:prstGeom prst="rect">
            <a:avLst/>
          </a:prstGeom>
        </p:spPr>
      </p:pic>
      <p:pic>
        <p:nvPicPr>
          <p:cNvPr id="12" name="Picture 11" descr="hist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735" y="154305"/>
            <a:ext cx="1723390" cy="1979930"/>
          </a:xfrm>
          <a:prstGeom prst="rect">
            <a:avLst/>
          </a:prstGeom>
        </p:spPr>
      </p:pic>
      <p:pic>
        <p:nvPicPr>
          <p:cNvPr id="13" name="Picture 12" descr="hist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5065" y="125730"/>
            <a:ext cx="1957070" cy="2131695"/>
          </a:xfrm>
          <a:prstGeom prst="rect">
            <a:avLst/>
          </a:prstGeom>
        </p:spPr>
      </p:pic>
      <p:pic>
        <p:nvPicPr>
          <p:cNvPr id="14" name="Picture 13" descr="hitma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5065" y="2254885"/>
            <a:ext cx="1964690" cy="2279650"/>
          </a:xfrm>
          <a:prstGeom prst="rect">
            <a:avLst/>
          </a:prstGeom>
        </p:spPr>
      </p:pic>
      <p:pic>
        <p:nvPicPr>
          <p:cNvPr id="15" name="Picture 14" descr="boxplo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9360" y="155575"/>
            <a:ext cx="1565275" cy="1993265"/>
          </a:xfrm>
          <a:prstGeom prst="rect">
            <a:avLst/>
          </a:prstGeom>
        </p:spPr>
      </p:pic>
      <p:pic>
        <p:nvPicPr>
          <p:cNvPr id="16" name="Picture 15" descr="pi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6540" y="4608195"/>
            <a:ext cx="2729865" cy="2249805"/>
          </a:xfrm>
          <a:prstGeom prst="rect">
            <a:avLst/>
          </a:prstGeom>
        </p:spPr>
      </p:pic>
      <p:pic>
        <p:nvPicPr>
          <p:cNvPr id="17" name="Picture 16" descr="pie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73645" y="2535555"/>
            <a:ext cx="1521460" cy="2072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68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</a:t>
            </a:r>
            <a:r>
              <a:rPr sz="4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charset="0"/>
                <a:cs typeface="Arial Rounded MT Bold" panose="020F0704030504030204" charset="0"/>
              </a:rPr>
              <a:t>Applications</a:t>
            </a:r>
            <a:endParaRPr sz="4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For Job Seekers: Estimate fair salary expectations</a:t>
            </a:r>
            <a:endParaRPr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For Employers: Assist in deciding compensation offers</a:t>
            </a:r>
            <a:endParaRPr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For Analysts: Study salary trends across industries</a:t>
            </a:r>
            <a:endParaRPr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For Researchers: Understand salary determinants</a:t>
            </a:r>
            <a:endParaRPr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p:transition advTm="300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67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r>
              <a:rPr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Issues Faced</a:t>
            </a:r>
            <a:endParaRPr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567045" cy="4526280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b="1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Missing and inconsistent data in dataset</a:t>
            </a:r>
            <a:endParaRPr b="1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l">
              <a:lnSpc>
                <a:spcPct val="80000"/>
              </a:lnSpc>
            </a:pPr>
            <a:r>
              <a:rPr b="1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Imbalanced salary data distribution</a:t>
            </a:r>
            <a:endParaRPr b="1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l">
              <a:lnSpc>
                <a:spcPct val="80000"/>
              </a:lnSpc>
            </a:pPr>
            <a:r>
              <a:rPr b="1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Feature encoding for categorical variables</a:t>
            </a:r>
            <a:endParaRPr b="1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l">
              <a:lnSpc>
                <a:spcPct val="80000"/>
              </a:lnSpc>
            </a:pPr>
            <a:r>
              <a:rPr b="1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Streamlit UI not displaying model outputs properly</a:t>
            </a:r>
            <a:r>
              <a:rPr lang="en-US" b="1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.</a:t>
            </a:r>
            <a:endParaRPr lang="en-US" b="1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  <p:transition advTm="300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88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doni MT Black" panose="02070A03080606020203" charset="0"/>
                <a:cs typeface="Bodoni MT Black" panose="02070A03080606020203" charset="0"/>
              </a:rPr>
              <a:t>How Issues Were Overcome</a:t>
            </a:r>
            <a:endParaRPr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doni MT Black" panose="02070A03080606020203" charset="0"/>
              <a:cs typeface="Bodoni MT Black" panose="02070A030806060202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747260" cy="4526280"/>
          </a:xfrm>
        </p:spPr>
        <p:txBody>
          <a:bodyPr anchor="b" anchorCtr="0">
            <a:scene3d>
              <a:camera prst="orthographicFront"/>
              <a:lightRig rig="threePt" dir="t"/>
            </a:scene3d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Handled missing values using mean/median imputation</a:t>
            </a:r>
            <a:r>
              <a:rPr lang="en-US"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endParaRPr sz="2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>
              <a:lnSpc>
                <a:spcPct val="110000"/>
              </a:lnSpc>
            </a:pPr>
            <a:r>
              <a:rPr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Applied log transformation for salary normalization</a:t>
            </a:r>
            <a:r>
              <a:rPr lang="en-US"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endParaRPr sz="2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>
              <a:lnSpc>
                <a:spcPct val="110000"/>
              </a:lnSpc>
            </a:pPr>
            <a:r>
              <a:rPr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Used LabelEncoder and OneHotEncoder for categorical data</a:t>
            </a:r>
            <a:r>
              <a:rPr lang="en-US"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endParaRPr lang="en-US" sz="2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>
              <a:lnSpc>
                <a:spcPct val="110000"/>
              </a:lnSpc>
            </a:pPr>
            <a:r>
              <a:rPr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Debugged Streamlit app for correct model predictions</a:t>
            </a:r>
            <a:r>
              <a:rPr lang="en-US"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endParaRPr sz="2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>
              <a:lnSpc>
                <a:spcPct val="110000"/>
              </a:lnSpc>
            </a:pPr>
            <a:endParaRPr sz="2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>
              <a:lnSpc>
                <a:spcPct val="110000"/>
              </a:lnSpc>
            </a:pPr>
            <a:endParaRPr sz="2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p:transition advTm="300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Future Enhancements</a:t>
            </a:r>
            <a:endParaRPr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95955" y="1851660"/>
            <a:ext cx="5144135" cy="4554220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algn="r"/>
            <a:r>
              <a:rPr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Integrate real-time data from job portals</a:t>
            </a:r>
            <a:r>
              <a:rPr 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.</a:t>
            </a:r>
            <a:endParaRPr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r"/>
            <a:r>
              <a:rPr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Add interactive dashboards</a:t>
            </a:r>
            <a:r>
              <a:rPr 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.</a:t>
            </a:r>
            <a:endParaRPr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r"/>
            <a:r>
              <a:rPr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Implement deep learning models for better accuracy</a:t>
            </a:r>
            <a:r>
              <a:rPr 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.</a:t>
            </a:r>
            <a:endParaRPr 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  <p:transition advTm="300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Results &amp; Conclusion</a:t>
            </a:r>
            <a:endParaRPr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5385" y="1600200"/>
            <a:ext cx="6569710" cy="4526280"/>
          </a:xfrm>
        </p:spPr>
        <p:txBody>
          <a:bodyPr/>
          <a:lstStyle/>
          <a:p>
            <a:pPr algn="r"/>
            <a:r>
              <a:t>Improved accuracy using ensemble models</a:t>
            </a:r>
          </a:p>
          <a:p>
            <a:pPr algn="r"/>
            <a:r>
              <a:t>Model provides reliable salary estimates</a:t>
            </a:r>
          </a:p>
          <a:p>
            <a:pPr algn="r"/>
            <a:r>
              <a:t>Successfully deployed on Streamlit</a:t>
            </a:r>
          </a:p>
        </p:txBody>
      </p:sp>
    </p:spTree>
  </p:cSld>
  <p:clrMapOvr>
    <a:masterClrMapping/>
  </p:clrMapOvr>
  <p:transition advTm="300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594610" y="2719705"/>
            <a:ext cx="4686935" cy="18719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YOU...!!</a:t>
            </a:r>
            <a:endParaRPr lang="en-US" sz="4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2605</Words>
  <Application>WPS Presentation</Application>
  <PresentationFormat>On-screen Show (4:3)</PresentationFormat>
  <Paragraphs>97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SimSun</vt:lpstr>
      <vt:lpstr>Wingdings</vt:lpstr>
      <vt:lpstr>Calibri</vt:lpstr>
      <vt:lpstr>Arial Black</vt:lpstr>
      <vt:lpstr>Arial Rounded MT Bold</vt:lpstr>
      <vt:lpstr>Bahnschrift SemiBold</vt:lpstr>
      <vt:lpstr>Wingdings</vt:lpstr>
      <vt:lpstr>Bodoni MT Black</vt:lpstr>
      <vt:lpstr>Microsoft YaHei</vt:lpstr>
      <vt:lpstr>Arial Unicode MS</vt:lpstr>
      <vt:lpstr>1_Default Design</vt:lpstr>
      <vt:lpstr>          Title of the Project</vt:lpstr>
      <vt:lpstr>     Project Description</vt:lpstr>
      <vt:lpstr>Dataset</vt:lpstr>
      <vt:lpstr>Tools and Technologies</vt:lpstr>
      <vt:lpstr>Machine Learning Models Used</vt:lpstr>
      <vt:lpstr>DEMO </vt:lpstr>
      <vt:lpstr>Screenshot of Data visialization: key factor</vt:lpstr>
      <vt:lpstr>  Applications</vt:lpstr>
      <vt:lpstr>Issues Faced</vt:lpstr>
      <vt:lpstr>How Issues Were Overcome</vt:lpstr>
      <vt:lpstr>Future Enhancements</vt:lpstr>
      <vt:lpstr>Results &amp; Conclusion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tanis</cp:lastModifiedBy>
  <cp:revision>8</cp:revision>
  <dcterms:created xsi:type="dcterms:W3CDTF">2013-01-27T09:14:00Z</dcterms:created>
  <dcterms:modified xsi:type="dcterms:W3CDTF">2025-11-13T17:32:04Z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83A9EC9DDD194E95A615734EC2E29094_13</vt:lpwstr>
  </property>
  <property fmtid="{D5CDD505-2E9C-101B-9397-08002B2CF9AE}" pid="3" name="KSOProductBuildVer">
    <vt:lpwstr>1033-12.2.0.21179</vt:lpwstr>
  </property>
</Properties>
</file>